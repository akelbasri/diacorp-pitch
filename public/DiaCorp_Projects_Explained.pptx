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713232"/>
            <a:ext cx="146304" cy="635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0" spc="-30">
                <a:solidFill>
                  <a:srgbClr val="1C1A15"/>
                </a:solidFill>
                <a:latin typeface="Georgia"/>
              </a:rPr>
              <a:t>Les projets informatiques —</a:t>
            </a:r>
          </a:p>
          <a:p>
            <a:pPr algn="l"/>
            <a:r>
              <a:rPr sz="5600" b="0" spc="-30">
                <a:solidFill>
                  <a:srgbClr val="1C1A15"/>
                </a:solidFill>
                <a:latin typeface="Georgia"/>
              </a:rPr>
              <a:t>expliqués simplement.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3840480"/>
            <a:ext cx="3657600" cy="0"/>
          </a:xfrm>
          <a:prstGeom prst="line">
            <a:avLst/>
          </a:prstGeom>
          <a:ln w="19050">
            <a:solidFill>
              <a:srgbClr val="B4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4A4638"/>
                </a:solidFill>
                <a:latin typeface="Georgia"/>
              </a:rPr>
              <a:t>12 applications opérationnelles · ~1,1 M$ sur 18 mois · &lt; 1 % du CAPEX 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303520"/>
            <a:ext cx="5212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4132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✓ ZONE 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87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C1A15"/>
                </a:solidFill>
                <a:latin typeface="Georgia"/>
              </a:rPr>
              <a:t>Ain Beni Mathar · Oujda · Jerada · Figuig · Nador · Driouch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5303520"/>
            <a:ext cx="5212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54132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A4371F"/>
                </a:solidFill>
                <a:latin typeface="Menlo"/>
              </a:rPr>
              <a:t>✗ HORS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687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4638"/>
                </a:solidFill>
                <a:latin typeface="Georgia"/>
              </a:rPr>
              <a:t>Casa · Rabat · Marrakech · Dakhla · Export Europe (Phase 3+)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STRICTLY CONFIDENTIAL · AVRIL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695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spc="150">
                <a:solidFill>
                  <a:srgbClr val="7A7563"/>
                </a:solidFill>
                <a:latin typeface="Menlo"/>
              </a:rPr>
              <a:t>dia-pitch.vercel.app/projects.html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21792"/>
            <a:ext cx="146304" cy="635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0" spc="-25">
                <a:solidFill>
                  <a:srgbClr val="1C1A15"/>
                </a:solidFill>
                <a:latin typeface="Georgia"/>
              </a:rPr>
              <a:t>De quoi parle ce document 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54864" cy="105156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DIACORP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67128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A15"/>
                </a:solidFill>
                <a:latin typeface="Georgia"/>
              </a:rPr>
              <a:t>1 GW de solaire photovoltaïque dans la région Oriental (Ain Beni Mathar, Oujda, Jerada, Figuig, Nador, Driouch). CAPEX initial : 120 M$.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29000"/>
            <a:ext cx="54864" cy="105156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LE MÉTIER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01568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A15"/>
                </a:solidFill>
                <a:latin typeface="Georgia"/>
              </a:rPr>
              <a:t>Vendre du kWh aux industriels locaux moins cher qu'ONEE. Business classique à marge 15-20 %.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663440"/>
            <a:ext cx="54864" cy="105156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CE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636008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1A15"/>
                </a:solidFill>
                <a:latin typeface="Georgia"/>
              </a:rPr>
              <a:t>Les 12 applications logicielles à développer pour faire tourner cette activité, facturer correctement, et ouvrir des revenus supplémentaires (certificats, zone industrielle, B2C).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080760"/>
            <a:ext cx="10607040" cy="0"/>
          </a:xfrm>
          <a:prstGeom prst="line">
            <a:avLst/>
          </a:prstGeom>
          <a:ln w="9525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619963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B46B1A"/>
                </a:solidFill>
                <a:latin typeface="Menlo"/>
              </a:rPr>
              <a:t>PAS DE SLOGANS IA · DES OUTILS OPÉRATIONNELS, AVEC UN ROI CHIFFRÉ.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21792"/>
            <a:ext cx="146304" cy="635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VUE D'ENSEMBLE · 12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Trois couches, chaque couche a sa promesse.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77440"/>
            <a:ext cx="35661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77440"/>
            <a:ext cx="3566160" cy="73152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1C1A15"/>
                </a:solidFill>
                <a:latin typeface="Georgia"/>
              </a:rPr>
              <a:t>Opérationnel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7A7563"/>
                </a:solidFill>
                <a:latin typeface="Menlo"/>
              </a:rPr>
              <a:t>5 apps · 260 k$ · 3 mois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3877056"/>
            <a:ext cx="109728" cy="18288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947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Portail Client B2B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151376"/>
            <a:ext cx="109728" cy="18288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0690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Paiement Factures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4425696"/>
            <a:ext cx="109728" cy="18288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3434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Facturation Auto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700016"/>
            <a:ext cx="109728" cy="18288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6177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CRM Commercial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974336"/>
            <a:ext cx="109728" cy="18288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8920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Dashboard Production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" y="5440680"/>
            <a:ext cx="301752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1560" y="5532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4638"/>
                </a:solidFill>
                <a:latin typeface="Georgia"/>
              </a:rPr>
              <a:t>Faire tourner DIA1 avec de vrais outils, non des tableurs.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2377440"/>
            <a:ext cx="35661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44568" y="2377440"/>
            <a:ext cx="3566160" cy="73152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2606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B46B1A"/>
                </a:solidFill>
                <a:latin typeface="Menlo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2926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1C1A15"/>
                </a:solidFill>
                <a:latin typeface="Georgia"/>
              </a:rPr>
              <a:t>Revenu additionnel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3429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7A7563"/>
                </a:solidFill>
                <a:latin typeface="Menlo"/>
              </a:rPr>
              <a:t>4 apps · 490 k$ · 6 mois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3877056"/>
            <a:ext cx="109728" cy="18288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37947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GMAO Maintenance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8888" y="4151376"/>
            <a:ext cx="109728" cy="18288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7488" y="40690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Certificats Verts (REC)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18888" y="4425696"/>
            <a:ext cx="109728" cy="18288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47488" y="43434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Marketplace Énergie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18888" y="4700016"/>
            <a:ext cx="109728" cy="18288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7488" y="461772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Zone Industrielle DIA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18888" y="5440680"/>
            <a:ext cx="301752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818888" y="5532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4638"/>
                </a:solidFill>
                <a:latin typeface="Georgia"/>
              </a:rPr>
              <a:t>Créer des revenus supplémentaires au-delà du plant.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11896" y="2377440"/>
            <a:ext cx="35661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11896" y="2377440"/>
            <a:ext cx="3566160" cy="73152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86216" y="26060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8A4D16"/>
                </a:solidFill>
                <a:latin typeface="Menlo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2926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spc="-15">
                <a:solidFill>
                  <a:srgbClr val="1C1A15"/>
                </a:solidFill>
                <a:latin typeface="Georgia"/>
              </a:rPr>
              <a:t>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6216" y="3429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7A7563"/>
                </a:solidFill>
                <a:latin typeface="Menlo"/>
              </a:rPr>
              <a:t>3 apps · 375 k$ · 8 mois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86216" y="3877056"/>
            <a:ext cx="109728" cy="18288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14816" y="379476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App Mobile Grand Public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86216" y="4151376"/>
            <a:ext cx="109728" cy="18288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14816" y="40690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GIS Cartographie Oriental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86216" y="4425696"/>
            <a:ext cx="109728" cy="18288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14816" y="434340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4638"/>
                </a:solidFill>
                <a:latin typeface="Helvetica Neue"/>
              </a:rPr>
              <a:t>Portail Autorités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86216" y="5440680"/>
            <a:ext cx="301752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586216" y="5532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A4638"/>
                </a:solidFill>
                <a:latin typeface="Georgia"/>
              </a:rPr>
              <a:t>Attaquer le B2C et préparer DIA2/DIA3.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01 · PHASE 1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Portail Client B2B — Espace Entreprise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B2B Client Portal — Company Workspace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3F7A3A"/>
                </a:solidFill>
                <a:latin typeface="Georgia"/>
              </a:rPr>
              <a:t>80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3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Les 30 à 50 entreprises industrielles clientes dans l'Oriental.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The 30 to 50 industrial client companies in the Oriental.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Chaque client voit son contrat PPA, sa consommation kWh en temps réel, son historique de factures, ses documents et ses tickets de support.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Each client sees their PPA contract, real-time kWh usage, invoice history, documents and support tickets.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Next.js · PostgreSQL · SSO · API compteurs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–80 % d'appels au service client. Confiance → renouvellement PPA 20 ans.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02 · PHASE 1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Application de Paiement des Factures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Invoice Payment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3F7A3A"/>
                </a:solidFill>
                <a:latin typeface="Georgia"/>
              </a:rPr>
              <a:t>60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2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Clients B2B industriels et locataires de la zone industrielle.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B2B industrial clients and industrial-zone tenants.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CMI (Carte Monétique Interbancaire), CIH Bank, BMCE Direct, AttijariWafa. Virement RIB, chèque scanné, rappels SMS/email.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CMI, CIH Bank, BMCE Direct, AttijariWafa. RIB transfer, scanned cheque, SMS/email reminders.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CMI API · Stripe Morocco · Twilio SMS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Paiement à J+15 au lieu de J+45. Commission 0,5 % ≈ 600 k$/an à l'échelle.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03 · PHASE 1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Système de Facturation Automatique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Automated Invoicing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3F7A3A"/>
                </a:solidFill>
                <a:latin typeface="Georgia"/>
              </a:rPr>
              <a:t>40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2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Équipe finance DiaCorp (5 à 10 personnes).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DiaCorp finance team (5-10 people).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Lit les compteurs toutes les 15 min, applique le tarif PPA, génère la facture PDF conforme DGI (TVA, ICE), envoie par email, archive.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Reads meters every 15 min, applies PPA tariff, generates DGI-compliant PDF invoices (VAT, ICE), emails, archives.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Node.js scheduler · Puppeteer PDF · API DGI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–195 h/mois de travail manuel → –250 k$/an en salaires. Zéro erreur.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04 · PHASE 1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CRM Commercial — Suivi des Contrats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Commercial CRM — Deal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3F7A3A"/>
                </a:solidFill>
                <a:latin typeface="Georgia"/>
              </a:rPr>
              <a:t>30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1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Équipe commerciale (3 à 6 personnes, M. Mohammed BD).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Commercial team (3-6 people, M. Mohammed, BD).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Chaque prospect (Stellantis, OCP, Managem…) a sa fiche : contacts, échanges, docs, étape lead → signed. Rappels automatiques.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Each prospect (Stellantis, OCP, Managem…) has a card: contacts, interactions, docs, stage lead → signed. Auto reminders.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HubSpot custom ou Next.js + Postgres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Visibilité pipeline (MW en négociation). +20 % taux de conversion.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05 · PHASE 1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Dashboard Production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Real-Time Production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3F7A3A"/>
                </a:solidFill>
                <a:latin typeface="Georgia"/>
              </a:rPr>
              <a:t>50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2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Exploitation DIA1 (Ain Beni Mathar) + siège Oujda.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DIA1 ops (Ain Beni Mathar) + Oujda HQ.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Production solaire live, températures onduleurs, météo locale, variance vs prévision. Vue d'ensemble en un coup d'œil.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Live solar output, inverter temperatures, local weather, variance vs forecast. One-glance awareness.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SCADA read · Grafana ou dashboard sur mesure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F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Détection rapide → moins d'arrêts. +1 % disponibilité ≈ +1,2 M$/an.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06 · PHASE 2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GMAO — Gestion de la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CMMS — Field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B46B1A"/>
                </a:solidFill>
                <a:latin typeface="Georgia"/>
              </a:rPr>
              <a:t>70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3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Techniciens terrain (15-30 à 1 GW) + managers maintenance.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Field technicians (15-30 at 1 GW) + maintenance managers.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App mobile : ouvrir un ticket, assigner au technicien le plus proche, photos avant/après, historique par panneau, préventif.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Mobile app: open a ticket, assign to closest tech, before/after photos, per-panel history, preventive schedule.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React Native + backend léger (pré-diagnostic IA optionnel)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Techniciens passent de 4 à 6 interv./jour. Revendable SaaS ≈ 500 k$/an.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07 · PHASE 2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Plateforme Certificats Verts (REC)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Green Certificate Platform (RECs)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B46B1A"/>
                </a:solidFill>
                <a:latin typeface="Georgia"/>
              </a:rPr>
              <a:t>120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4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Exportateurs marocains soumis au CBAM (Renault, OCP, Citic…).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Moroccan exporters subject to CBAM (Renault, OCP, Citic…).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Pour chaque MWh livré, émission d'un certificat numérique signé, vérifiable Verra / Gold Standard. Option blockchain.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For each delivered MWh, emit a signed digital certificate verifiable by Verra / Gold Standard. Optional blockchain.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PostgreSQL · signature numérique · Polygon (optionnel)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Vente €15-25 / tCO₂ en plus de l'énergie. 1 GW ≈ 2 Mt/an → 30-50 M$/an.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08 · PHASE 2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Marketplace Énergie Oriental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Oriental Energy Marketplace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B46B1A"/>
                </a:solidFill>
                <a:latin typeface="Georgia"/>
              </a:rPr>
              <a:t>200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6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Acheteurs industriels Oriental (Managem, textile Oujda, agro Berkane).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Oriental industrial buyers (Managem, Oujda textile, Berkane agri).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Capacité disponible affichée en direct, prix spot dynamique, réservation en ligne, wheeling ONEE intégré.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Live available capacity, dynamic spot pricing, online reservation, ONEE wheeling integrated.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Web app · moteur matching · wheeling ONEE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Vend la capacité résiduelle au meilleur prix. +10-15 % de revenu vs contrats fixes.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09 · PHASE 2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Gestion Zone Industrielle 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DIA Industrial Zone ERP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B46B1A"/>
                </a:solidFill>
                <a:latin typeface="Georgia"/>
              </a:rPr>
              <a:t>100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4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DiaCorp opérateur zone + 50+ entreprises autour de DIA1.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DiaCorp zone operator + 50+ companies around DIA1.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Lots, baux, consommation énergie/eau/déchets par locataire. Facturation mensuelle. Services communs (sécurité, internet).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Plots, leases, energy/water/waste metering per tenant. Monthly invoicing. Shared services (security, internet).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Web app · ERP léger · compteurs IoT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6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Loyers 5-50 k$/locataire/mois × 50 → 6-30 M$/an au-delà de l'énergie.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10 · PHASE 3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Application Mobile Grand Public (B2C)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Consumer Mobile App (B2C)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8A4D16"/>
                </a:solidFill>
                <a:latin typeface="Georgia"/>
              </a:rPr>
              <a:t>250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6-8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Ménages marocains de l'Oriental (Oujda, Nador, Berkane).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Moroccan households in the Oriental (Oujda, Nador, Berkane).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Photo du toit, estimation, installation gratuite panneaux + micro-onduleur, abonnement mensuel qui remplace la facture ONEE.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Roof photo, quote, free panel + microinverter install, monthly subscription replacing the ONEE bill.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React Native · financement BMCE intégré · logistique installateurs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4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10 k foyers × 70 $/mois = 8,4 M$/an. 100 k foyers → 84 M$/an.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11 · PHASE 3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Cartographie des Sites — GIS Oriental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Site Mapping — Oriental GIS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8A4D16"/>
                </a:solidFill>
                <a:latin typeface="Georgia"/>
              </a:rPr>
              <a:t>80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3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Équipe dev DiaCorp + CRI Oriental + DGCL régionale.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DiaCorp dev team + CRI Oriental + regional DGCL.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Carte interactive Oriental : irradiance kWh/m²/an, distance HT ONEE, statut foncier, démographie. Aide décision DIA2/DIA3.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Interactive Oriental map: irradiance kWh/m²/yr, HT distance, land status, population. Informs DIA2/DIA3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Leaflet · ANRE datasets · cadastre · MétéoNorm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4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Évite 500 k$/étude ratée. Revendable IPP, BEI, BAD, Banque mondiale.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12 · PHASE 3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0" spc="-25">
                <a:solidFill>
                  <a:srgbClr val="1C1A15"/>
                </a:solidFill>
                <a:latin typeface="Georgia"/>
              </a:rPr>
              <a:t>Portail Autorités &amp;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3"/>
                </a:solidFill>
                <a:latin typeface="Georgia"/>
              </a:rPr>
              <a:t>Authority &amp; Reporting Portal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502920"/>
            <a:ext cx="2834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640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COÛT · DURÉE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914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0" spc="-25">
                <a:solidFill>
                  <a:srgbClr val="8A4D16"/>
                </a:solidFill>
                <a:latin typeface="Georgia"/>
              </a:rPr>
              <a:t>45 k$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645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7563"/>
                </a:solidFill>
                <a:latin typeface="Menlo"/>
              </a:rPr>
              <a:t>2 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POUR 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4028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Direction DiaCorp + conformité + ministères marocains.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2491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DiaCorp leadership + compliance + Moroccan ministries.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CE QUE ÇA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24612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Rapports mensuels ONEE, DGI TVA/IS, AMDIE, CRI Oriental, Min. Énergie, Min. Env. Signature électronique + archivage 10 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30752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Helvetica Neue"/>
              </a:rPr>
              <a:t>Monthly reports to ONEE, DGI VAT/CIT, AMDIE, CRI Oriental, Min. Energy, Min. Env. E-signature + 10-year archive.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7A7563"/>
                </a:solidFill>
                <a:latin typeface="Menlo"/>
              </a:rP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51960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C1A15"/>
                </a:solidFill>
                <a:latin typeface="Georgia"/>
              </a:rPr>
              <a:t>Générateur PDF · signature numérique Maroc · archivage légal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4D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73152" cy="731520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8A4D16"/>
                </a:solidFill>
                <a:latin typeface="Menlo"/>
              </a:rPr>
              <a:t>RETOUR DIACORP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108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1A15"/>
                </a:solidFill>
                <a:latin typeface="Georgia"/>
              </a:rPr>
              <a:t>Évite jusqu'à 200 k$/an en pénalités. Facilite autorisations DIA2/DIA3.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B46B1A"/>
                </a:solidFill>
                <a:latin typeface="Menlo"/>
              </a:rPr>
              <a:t>RÉCAP · 12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 spc="-25">
                <a:solidFill>
                  <a:srgbClr val="1C1A15"/>
                </a:solidFill>
                <a:latin typeface="Georgia"/>
              </a:rPr>
              <a:t>Priorités et coûts.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07040" cy="365760"/>
          </a:xfrm>
          <a:prstGeom prst="rect">
            <a:avLst/>
          </a:prstGeom>
          <a:solidFill>
            <a:srgbClr val="EDE6D6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COÛT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DÉLAI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286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PRIORITÉ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151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1518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Portail Client B2B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151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7A3A"/>
                </a:solidFill>
                <a:latin typeface="Menlo"/>
              </a:rPr>
              <a:t>80 k$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6151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3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6151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852928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9077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90779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Paiement Factures (CMI/CIH)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077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7A3A"/>
                </a:solidFill>
                <a:latin typeface="Menlo"/>
              </a:rPr>
              <a:t>60 k$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9077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2 mois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9077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145536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200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Facturation Automatique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00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7A3A"/>
                </a:solidFill>
                <a:latin typeface="Menlo"/>
              </a:rPr>
              <a:t>40 k$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200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2 mois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200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438144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49300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349300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CRM Commercial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930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7A3A"/>
                </a:solidFill>
                <a:latin typeface="Menlo"/>
              </a:rPr>
              <a:t>30 k$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4930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1 mois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4930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3730752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378561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378561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Dashboard Production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7856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7A3A"/>
                </a:solidFill>
                <a:latin typeface="Menlo"/>
              </a:rPr>
              <a:t>50 k$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7856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2 mois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78561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023360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07822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407822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GMAO Maintenance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0782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46B1A"/>
                </a:solidFill>
                <a:latin typeface="Menlo"/>
              </a:rPr>
              <a:t>70 k$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07822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3 mois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078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B46B1A"/>
                </a:solidFill>
                <a:latin typeface="Menlo"/>
              </a:rPr>
              <a:t>Phase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315968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3708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" y="437083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Certificats Verts (REC)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3708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46B1A"/>
                </a:solidFill>
                <a:latin typeface="Menlo"/>
              </a:rPr>
              <a:t>120 k$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3708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4 mois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43708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B46B1A"/>
                </a:solidFill>
                <a:latin typeface="Menlo"/>
              </a:rPr>
              <a:t>Phase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4608576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6634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54480" y="4663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Marketplace Énergie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663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46B1A"/>
                </a:solidFill>
                <a:latin typeface="Menlo"/>
              </a:rPr>
              <a:t>200 k$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4663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6 mois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4663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B46B1A"/>
                </a:solidFill>
                <a:latin typeface="Menlo"/>
              </a:rPr>
              <a:t>Phase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4901184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49560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54480" y="495604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Zone Industrielle DIA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03920" y="4956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B46B1A"/>
                </a:solidFill>
                <a:latin typeface="Menlo"/>
              </a:rPr>
              <a:t>100 k$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4956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4 mois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0" y="49560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B46B1A"/>
                </a:solidFill>
                <a:latin typeface="Menlo"/>
              </a:rPr>
              <a:t>Phase 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" y="5193792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52486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54480" y="52486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App Mobile Grand Public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52486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4D16"/>
                </a:solidFill>
                <a:latin typeface="Menlo"/>
              </a:rPr>
              <a:t>250 k$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52486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6-8 mois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5248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8A4D16"/>
                </a:solidFill>
                <a:latin typeface="Menlo"/>
              </a:rPr>
              <a:t>Phase 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" y="5486400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" y="55412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11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54480" y="554126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GIS Cartographie Oriental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03920" y="55412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4D16"/>
                </a:solidFill>
                <a:latin typeface="Menlo"/>
              </a:rPr>
              <a:t>80 k$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55412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3 mois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554126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8A4D16"/>
                </a:solidFill>
                <a:latin typeface="Menlo"/>
              </a:rPr>
              <a:t>Phase 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7240" y="5779008"/>
            <a:ext cx="10607040" cy="292608"/>
          </a:xfrm>
          <a:prstGeom prst="rect">
            <a:avLst/>
          </a:prstGeom>
          <a:noFill/>
          <a:ln w="9525">
            <a:solidFill>
              <a:srgbClr val="D8CF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" y="58338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3"/>
                </a:solidFill>
                <a:latin typeface="Menlo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54480" y="5833872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A15"/>
                </a:solidFill>
                <a:latin typeface="Helvetica Neue"/>
              </a:rPr>
              <a:t>Portail Autorités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0" y="58338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4D16"/>
                </a:solidFill>
                <a:latin typeface="Menlo"/>
              </a:rPr>
              <a:t>45 k$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58338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2 mois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58338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100">
                <a:solidFill>
                  <a:srgbClr val="8A4D16"/>
                </a:solidFill>
                <a:latin typeface="Menlo"/>
              </a:rPr>
              <a:t>Phase 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" y="6071616"/>
            <a:ext cx="10607040" cy="457200"/>
          </a:xfrm>
          <a:prstGeom prst="rect">
            <a:avLst/>
          </a:prstGeom>
          <a:solidFill>
            <a:srgbClr val="EDE6D6"/>
          </a:solidFill>
          <a:ln w="9525">
            <a:solidFill>
              <a:srgbClr val="C4B8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554480" y="6181344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150">
                <a:solidFill>
                  <a:srgbClr val="1C1A15"/>
                </a:solidFill>
                <a:latin typeface="Menlo"/>
              </a:rPr>
              <a:t>TOTAL ESTIMATION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20" y="61813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B46B1A"/>
                </a:solidFill>
                <a:latin typeface="Georgia"/>
              </a:rPr>
              <a:t>1,125 M$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1200" y="61996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4638"/>
                </a:solidFill>
                <a:latin typeface="Menlo"/>
              </a:rPr>
              <a:t>~18 mois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576072"/>
            <a:ext cx="146304" cy="635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spc="200">
                <a:solidFill>
                  <a:srgbClr val="3F7A3A"/>
                </a:solidFill>
                <a:latin typeface="Menlo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 spc="-30">
                <a:solidFill>
                  <a:srgbClr val="1C1A15"/>
                </a:solidFill>
                <a:latin typeface="Georgia"/>
              </a:rPr>
              <a:t>En trois temps.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73152" cy="1051560"/>
          </a:xfrm>
          <a:prstGeom prst="rect">
            <a:avLst/>
          </a:prstGeom>
          <a:solidFill>
            <a:srgbClr val="3F7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3F7A3A"/>
                </a:solidFill>
                <a:latin typeface="Menlo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7A7563"/>
                </a:solidFill>
                <a:latin typeface="Menlo"/>
              </a:rPr>
              <a:t>260 k$ · 3 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2316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C1A15"/>
                </a:solidFill>
                <a:latin typeface="Georgia"/>
              </a:rPr>
              <a:t>Faire tourner DIA1 avec de vrais outils, non des tableurs.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C1A15"/>
                </a:solidFill>
                <a:latin typeface="Georgia"/>
              </a:rPr>
              <a:t>C'est le socle minimum.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49040"/>
            <a:ext cx="73152" cy="1051560"/>
          </a:xfrm>
          <a:prstGeom prst="rect">
            <a:avLst/>
          </a:prstGeom>
          <a:solidFill>
            <a:srgbClr val="B46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B46B1A"/>
                </a:solidFill>
                <a:latin typeface="Menlo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023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7A7563"/>
                </a:solidFill>
                <a:latin typeface="Menlo"/>
              </a:rPr>
              <a:t>490 k$ · 6 mois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70332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C1A15"/>
                </a:solidFill>
                <a:latin typeface="Georgia"/>
              </a:rPr>
              <a:t>Créer des revenus supplémentaires (certificats, marketplace, zone).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C1A15"/>
                </a:solidFill>
                <a:latin typeface="Georgia"/>
              </a:rPr>
              <a:t>La valeur se multiplie.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029200"/>
            <a:ext cx="73152" cy="1051560"/>
          </a:xfrm>
          <a:prstGeom prst="rect">
            <a:avLst/>
          </a:prstGeom>
          <a:solidFill>
            <a:srgbClr val="8A4D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200">
                <a:solidFill>
                  <a:srgbClr val="8A4D16"/>
                </a:solidFill>
                <a:latin typeface="Menlo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00">
                <a:solidFill>
                  <a:srgbClr val="7A7563"/>
                </a:solidFill>
                <a:latin typeface="Menlo"/>
              </a:rPr>
              <a:t>375 k$ · 8 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9834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C1A15"/>
                </a:solidFill>
                <a:latin typeface="Georgia"/>
              </a:rPr>
              <a:t>Attaquer le B2C de masse et préparer DIA2 / DIA3.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C1A15"/>
                </a:solidFill>
                <a:latin typeface="Georgia"/>
              </a:rPr>
              <a:t>Passage à l'échelle.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035040"/>
            <a:ext cx="10607040" cy="0"/>
          </a:xfrm>
          <a:prstGeom prst="line">
            <a:avLst/>
          </a:prstGeom>
          <a:ln w="19050">
            <a:solidFill>
              <a:srgbClr val="3F7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spc="-10">
                <a:solidFill>
                  <a:srgbClr val="1C1A15"/>
                </a:solidFill>
                <a:latin typeface="Georgia"/>
              </a:rPr>
              <a:t>~1,1 M$ sur 18 mois  ·  &lt; 1 % du CAPEX DIA  ·  30-50 M$/an à maturité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355080"/>
            <a:ext cx="10607040" cy="0"/>
          </a:xfrm>
          <a:prstGeom prst="line">
            <a:avLst/>
          </a:prstGeom>
          <a:ln w="6350">
            <a:solidFill>
              <a:srgbClr val="C4B8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spc="200">
                <a:solidFill>
                  <a:srgbClr val="7A7563"/>
                </a:solidFill>
                <a:latin typeface="Menlo"/>
              </a:rPr>
              <a:t>DIACORP · ENERGY · ORIENTAL / MAROC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spc="200">
                <a:solidFill>
                  <a:srgbClr val="7A7563"/>
                </a:solidFill>
                <a:latin typeface="Menlo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0" spc="-50">
                <a:solidFill>
                  <a:srgbClr val="1C1A15"/>
                </a:solidFill>
                <a:latin typeface="Georgia"/>
              </a:rPr>
              <a:t>Merci.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3840480"/>
            <a:ext cx="2743200" cy="0"/>
          </a:xfrm>
          <a:prstGeom prst="line">
            <a:avLst/>
          </a:prstGeom>
          <a:ln w="19050">
            <a:solidFill>
              <a:srgbClr val="B4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4A4638"/>
                </a:solidFill>
                <a:latin typeface="Georgia"/>
              </a:rPr>
              <a:t>DiaCorp Energy — Projets IT pour l'Oriental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spc="100">
                <a:solidFill>
                  <a:srgbClr val="7A7563"/>
                </a:solidFill>
                <a:latin typeface="Menlo"/>
              </a:rPr>
              <a:t>wahb@diacorp.energy · Ain Beni Mathar · Oujda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spc="150">
                <a:solidFill>
                  <a:srgbClr val="7A7563"/>
                </a:solidFill>
                <a:latin typeface="Menlo"/>
              </a:rPr>
              <a:t>dia-pitch.vercel.app/projects.html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