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2A1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MÉMORANDUM D'INFORMATION · AVRIL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0" spc="-30">
                <a:solidFill>
                  <a:srgbClr val="F5F2EA"/>
                </a:solidFill>
                <a:latin typeface="Georgia"/>
              </a:rPr>
              <a:t>DiaCorp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0" spc="-40">
                <a:solidFill>
                  <a:srgbClr val="F5F2EA"/>
                </a:solidFill>
                <a:latin typeface="Georgia"/>
              </a:rPr>
              <a:t>1 gigawatt.</a:t>
            </a:r>
          </a:p>
          <a:p>
            <a:pPr algn="l"/>
            <a:r>
              <a:rPr sz="7200" b="0" spc="-40">
                <a:solidFill>
                  <a:srgbClr val="F5F2EA"/>
                </a:solidFill>
                <a:latin typeface="Georgia"/>
              </a:rPr>
              <a:t>Livré direct.</a:t>
            </a:r>
          </a:p>
          <a:p>
            <a:pPr algn="l"/>
            <a:r>
              <a:rPr sz="7200" b="0" spc="-40">
                <a:solidFill>
                  <a:srgbClr val="F5F2EA"/>
                </a:solidFill>
                <a:latin typeface="Georgia"/>
              </a:rPr>
              <a:t>Sans ONEE.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5486400" cy="1270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A39E94"/>
                </a:solidFill>
                <a:latin typeface="Georgia"/>
              </a:rPr>
              <a:t>Thèse logicielle pour la région Oriental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STRICTLY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60350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spc="200">
                <a:solidFill>
                  <a:srgbClr val="6B675E"/>
                </a:solidFill>
                <a:latin typeface="Menlo"/>
              </a:rPr>
              <a:t>DIACORP ENERGY SARL · CASABLANCA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01 · EN UNE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La thèse en trois chiffres.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6B675E"/>
                </a:solidFill>
                <a:latin typeface="Menlo"/>
              </a:rPr>
              <a:t>CAPEX projet 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spc="-40">
                <a:solidFill>
                  <a:srgbClr val="F5F2EA"/>
                </a:solidFill>
                <a:latin typeface="Georgia"/>
              </a:rPr>
              <a:t>120 M$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Helvetica Neue"/>
              </a:rPr>
              <a:t>Plant 1 GW, Oriental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6B675E"/>
                </a:solidFill>
                <a:latin typeface="Menlo"/>
              </a:rPr>
              <a:t>Investissement logiciel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15468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spc="-40">
                <a:solidFill>
                  <a:srgbClr val="E8A948"/>
                </a:solidFill>
                <a:latin typeface="Georgia"/>
              </a:rPr>
              <a:t>1,1 M$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7548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Helvetica Neue"/>
              </a:rPr>
              <a:t>Sur 18 mois — &lt;1% CAPEX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743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6B675E"/>
                </a:solidFill>
                <a:latin typeface="Menlo"/>
              </a:rPr>
              <a:t>Revenu additionnel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15468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spc="-40">
                <a:solidFill>
                  <a:srgbClr val="F5F2EA"/>
                </a:solidFill>
                <a:latin typeface="Georgia"/>
              </a:rPr>
              <a:t>30-50 M$/an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7548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Helvetica Neue"/>
              </a:rPr>
              <a:t>À maturité, récurrent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943600"/>
            <a:ext cx="10607040" cy="0"/>
          </a:xfrm>
          <a:prstGeom prst="line">
            <a:avLst/>
          </a:prstGeom>
          <a:ln w="9525">
            <a:solidFill>
              <a:srgbClr val="2A2D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39E94"/>
                </a:solidFill>
                <a:latin typeface="Georgia"/>
              </a:rPr>
              <a:t>Nous vendons la kWh moins chère qu'ONEE.</a:t>
            </a:r>
          </a:p>
          <a:p>
            <a:pPr algn="l"/>
            <a:r>
              <a:rPr sz="1400" b="0">
                <a:solidFill>
                  <a:srgbClr val="A39E94"/>
                </a:solidFill>
                <a:latin typeface="Georgia"/>
              </a:rPr>
              <a:t>Le logiciel qui distribue, facture et certifie cette énergie démultiplie la valeur.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02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02 · L'OPPORTUNITÉ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 spc="-25">
                <a:solidFill>
                  <a:srgbClr val="F5F2EA"/>
                </a:solidFill>
                <a:latin typeface="Georgia"/>
              </a:rPr>
              <a:t>L'Oriental marocain — 3 000 kWh/m²/an.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39E94"/>
                </a:solidFill>
                <a:latin typeface="Georgia"/>
              </a:rPr>
              <a:t>Irradiance parmi les plus hautes d'Afrique du Nord. Foncier disponible et approuvé.</a:t>
            </a:r>
          </a:p>
          <a:p>
            <a:pPr algn="l"/>
            <a:r>
              <a:rPr sz="1600" b="0">
                <a:solidFill>
                  <a:srgbClr val="A39E94"/>
                </a:solidFill>
                <a:latin typeface="Georgia"/>
              </a:rPr>
              <a:t>Porche d'export vers l'Europe. ONEE y pratique pourtant un tarif industriel non compétitif.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566160"/>
            <a:ext cx="2606040" cy="201168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Plant DIA1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spc="-25">
                <a:solidFill>
                  <a:srgbClr val="E8A948"/>
                </a:solidFill>
                <a:latin typeface="Georgia"/>
              </a:rPr>
              <a:t>150 MW PV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Ain Beni Mathar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566160"/>
            <a:ext cx="2606040" cy="201168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794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Capacité cible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spc="-25">
                <a:solidFill>
                  <a:srgbClr val="E8A948"/>
                </a:solidFill>
                <a:latin typeface="Georgia"/>
              </a:rPr>
              <a:t>1 GW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983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Phases 1 →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566160"/>
            <a:ext cx="2606040" cy="201168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Horizon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spc="-25">
                <a:solidFill>
                  <a:srgbClr val="E8A948"/>
                </a:solidFill>
                <a:latin typeface="Georgia"/>
              </a:rPr>
              <a:t>Q3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83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Mise en service DIA1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3566160"/>
            <a:ext cx="2606040" cy="201168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794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Partenariats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spc="-25">
                <a:solidFill>
                  <a:srgbClr val="E8A948"/>
                </a:solidFill>
                <a:latin typeface="Georgia"/>
              </a:rPr>
              <a:t>KermaSys · BMCE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983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25 ans d'EPC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03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03 · OFF-TAKERS CIBLES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0" spc="-25">
                <a:solidFill>
                  <a:srgbClr val="F5F2EA"/>
                </a:solidFill>
                <a:latin typeface="Georgia"/>
              </a:rPr>
              <a:t>Qui paie la facture 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5303520" cy="6858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spc="-15">
                <a:solidFill>
                  <a:srgbClr val="F5F2EA"/>
                </a:solidFill>
                <a:latin typeface="Georgia"/>
              </a:rPr>
              <a:t>OCP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6B675E"/>
                </a:solidFill>
                <a:latin typeface="Menlo"/>
              </a:rPr>
              <a:t>Khouribga · Benguerir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2677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 spc="-15">
                <a:solidFill>
                  <a:srgbClr val="E8A948"/>
                </a:solidFill>
                <a:latin typeface="Georgia"/>
              </a:rPr>
              <a:t>250-500 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560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A39E94"/>
                </a:solidFill>
                <a:latin typeface="Menlo"/>
              </a:rPr>
              <a:t>Décarbonation phosphates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94560"/>
            <a:ext cx="5303520" cy="6858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6771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spc="-15">
                <a:solidFill>
                  <a:srgbClr val="F5F2EA"/>
                </a:solidFill>
                <a:latin typeface="Georgia"/>
              </a:rPr>
              <a:t>Stellantis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60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6B675E"/>
                </a:solidFill>
                <a:latin typeface="Menlo"/>
              </a:rPr>
              <a:t>Kénitra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2677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 spc="-15">
                <a:solidFill>
                  <a:srgbClr val="E8A948"/>
                </a:solidFill>
                <a:latin typeface="Georgia"/>
              </a:rPr>
              <a:t>85 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560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A39E94"/>
                </a:solidFill>
                <a:latin typeface="Menlo"/>
              </a:rPr>
              <a:t>Objectif Net-Zero 2030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999232"/>
            <a:ext cx="5303520" cy="6858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7238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spc="-15">
                <a:solidFill>
                  <a:srgbClr val="F5F2EA"/>
                </a:solidFill>
                <a:latin typeface="Georgia"/>
              </a:rPr>
              <a:t>Citic Dicastal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64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6B675E"/>
                </a:solidFill>
                <a:latin typeface="Menlo"/>
              </a:rPr>
              <a:t>Kénitra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0723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 spc="-15">
                <a:solidFill>
                  <a:srgbClr val="E8A948"/>
                </a:solidFill>
                <a:latin typeface="Georgia"/>
              </a:rPr>
              <a:t>500 MW demandés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3649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A39E94"/>
                </a:solidFill>
                <a:latin typeface="Menlo"/>
              </a:rPr>
              <a:t>Demande déjà formelle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999232"/>
            <a:ext cx="5303520" cy="6858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07238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spc="-15">
                <a:solidFill>
                  <a:srgbClr val="F5F2EA"/>
                </a:solidFill>
                <a:latin typeface="Georgia"/>
              </a:rPr>
              <a:t>Managem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64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6B675E"/>
                </a:solidFill>
                <a:latin typeface="Menlo"/>
              </a:rPr>
              <a:t>Jerada · Oujda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0723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 spc="-15">
                <a:solidFill>
                  <a:srgbClr val="E8A948"/>
                </a:solidFill>
                <a:latin typeface="Georgia"/>
              </a:rPr>
              <a:t>42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33649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A39E94"/>
                </a:solidFill>
                <a:latin typeface="Menlo"/>
              </a:rPr>
              <a:t>Mines zinc/plomb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803904"/>
            <a:ext cx="5303520" cy="6858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8770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spc="-15">
                <a:solidFill>
                  <a:srgbClr val="F5F2EA"/>
                </a:solidFill>
                <a:latin typeface="Georgia"/>
              </a:rPr>
              <a:t>Renault Tanger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169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6B675E"/>
                </a:solidFill>
                <a:latin typeface="Menlo"/>
              </a:rPr>
              <a:t>Tanger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8770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 spc="-15">
                <a:solidFill>
                  <a:srgbClr val="E8A948"/>
                </a:solidFill>
                <a:latin typeface="Georgia"/>
              </a:rPr>
              <a:t>60 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1696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A39E94"/>
                </a:solidFill>
                <a:latin typeface="Menlo"/>
              </a:rPr>
              <a:t>Taxe CBAM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803904"/>
            <a:ext cx="5303520" cy="6858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8770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spc="-15">
                <a:solidFill>
                  <a:srgbClr val="F5F2EA"/>
                </a:solidFill>
                <a:latin typeface="Georgia"/>
              </a:rPr>
              <a:t>Textile / Agro Oriental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169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6B675E"/>
                </a:solidFill>
                <a:latin typeface="Menlo"/>
              </a:rPr>
              <a:t>Oujda · Berkane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38770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0" spc="-15">
                <a:solidFill>
                  <a:srgbClr val="E8A948"/>
                </a:solidFill>
                <a:latin typeface="Georgia"/>
              </a:rPr>
              <a:t>20-40 MW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1696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A39E94"/>
                </a:solidFill>
                <a:latin typeface="Menlo"/>
              </a:rPr>
              <a:t>Export 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04 / 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04 · DIACORP FACE À ONEE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 spc="-25">
                <a:solidFill>
                  <a:srgbClr val="F5F2EA"/>
                </a:solidFill>
                <a:latin typeface="Georgia"/>
              </a:rPr>
              <a:t>Le monopole n'est plus monolithique.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10607040" cy="45720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3957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C94F3A"/>
                </a:solidFill>
                <a:latin typeface="Menlo"/>
              </a:rPr>
              <a:t>ONEE (historique)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3957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DIACORP (nouvelle offre)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10607040" cy="548640"/>
          </a:xfrm>
          <a:prstGeom prst="rect">
            <a:avLst/>
          </a:prstGeom>
          <a:noFill/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2EA"/>
                </a:solidFill>
                <a:latin typeface="Helvetica Neue"/>
              </a:rPr>
              <a:t>Tarif industriel moyen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9077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Menlo"/>
              </a:rPr>
              <a:t>1,20 MAD / 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9077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A948"/>
                </a:solidFill>
                <a:latin typeface="Menlo"/>
              </a:rPr>
              <a:t>0,70 MAD / kWh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91840"/>
            <a:ext cx="10607040" cy="548640"/>
          </a:xfrm>
          <a:prstGeom prst="rect">
            <a:avLst/>
          </a:prstGeom>
          <a:noFill/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564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2EA"/>
                </a:solidFill>
                <a:latin typeface="Helvetica Neue"/>
              </a:rPr>
              <a:t>Part renouvelable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564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Menlo"/>
              </a:rPr>
              <a:t>~20 % (mix)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4564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A948"/>
                </a:solidFill>
                <a:latin typeface="Menlo"/>
              </a:rPr>
              <a:t>100 % PV + stockage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40480"/>
            <a:ext cx="10607040" cy="548640"/>
          </a:xfrm>
          <a:prstGeom prst="rect">
            <a:avLst/>
          </a:prstGeom>
          <a:noFill/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050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2EA"/>
                </a:solidFill>
                <a:latin typeface="Helvetica Neue"/>
              </a:rPr>
              <a:t>Conformité CBAM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0050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Menlo"/>
              </a:rPr>
              <a:t>Non certifiée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0050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A948"/>
                </a:solidFill>
                <a:latin typeface="Menlo"/>
              </a:rPr>
              <a:t>Certificats on-chain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389120"/>
            <a:ext cx="10607040" cy="548640"/>
          </a:xfrm>
          <a:prstGeom prst="rect">
            <a:avLst/>
          </a:prstGeom>
          <a:noFill/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537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2EA"/>
                </a:solidFill>
                <a:latin typeface="Helvetica Neue"/>
              </a:rPr>
              <a:t>Tarification dynamique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5537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Menlo"/>
              </a:rPr>
              <a:t>Contrats rigides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5537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A948"/>
                </a:solidFill>
                <a:latin typeface="Menlo"/>
              </a:rPr>
              <a:t>Spot intraday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937760"/>
            <a:ext cx="10607040" cy="548640"/>
          </a:xfrm>
          <a:prstGeom prst="rect">
            <a:avLst/>
          </a:prstGeom>
          <a:noFill/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1023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2EA"/>
                </a:solidFill>
                <a:latin typeface="Helvetica Neue"/>
              </a:rPr>
              <a:t>Délai de raccordement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1023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Menlo"/>
              </a:rPr>
              <a:t>18-36 mois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1023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A948"/>
                </a:solidFill>
                <a:latin typeface="Menlo"/>
              </a:rPr>
              <a:t>8 mois (zone indus.)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05 / 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05 · POURQUOI LE LOGICIEL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 spc="-20">
                <a:solidFill>
                  <a:srgbClr val="F5F2EA"/>
                </a:solidFill>
                <a:latin typeface="Georgia"/>
              </a:rPr>
              <a:t>Le plant vend des électrons.</a:t>
            </a:r>
          </a:p>
          <a:p>
            <a:pPr algn="l"/>
            <a:r>
              <a:rPr sz="3200" b="0" spc="-20">
                <a:solidFill>
                  <a:srgbClr val="F5F2EA"/>
                </a:solidFill>
                <a:latin typeface="Georgia"/>
              </a:rPr>
              <a:t>Le logiciel vend des contrats, des certificats, des abonnements.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39E94"/>
                </a:solidFill>
                <a:latin typeface="Georgia"/>
              </a:rPr>
              <a:t>Sans couche logicielle, on est un IPP classique — marge 15-20 %.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840480"/>
            <a:ext cx="3566160" cy="201168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840480"/>
            <a:ext cx="54864" cy="201168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23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-15">
                <a:solidFill>
                  <a:srgbClr val="F5F2EA"/>
                </a:solidFill>
                <a:latin typeface="Georgia"/>
              </a:rPr>
              <a:t>Opérationnel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920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Portail client · Paiement · Facturation · CRM · Dashboard production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4568" y="3840480"/>
            <a:ext cx="3566160" cy="201168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44568" y="3840480"/>
            <a:ext cx="54864" cy="201168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4023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-15">
                <a:solidFill>
                  <a:srgbClr val="F5F2EA"/>
                </a:solidFill>
                <a:latin typeface="Georgia"/>
              </a:rPr>
              <a:t>Revenu additionnel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48920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GMAO · Certificats verts · Marketplace · Zone industrielle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11896" y="3840480"/>
            <a:ext cx="3566160" cy="201168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3840480"/>
            <a:ext cx="54864" cy="2011680"/>
          </a:xfrm>
          <a:prstGeom prst="rect">
            <a:avLst/>
          </a:prstGeom>
          <a:solidFill>
            <a:srgbClr val="C9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6" y="4023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C9824A"/>
                </a:solidFill>
                <a:latin typeface="Menlo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6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-15">
                <a:solidFill>
                  <a:srgbClr val="F5F2EA"/>
                </a:solidFill>
                <a:latin typeface="Georgia"/>
              </a:rPr>
              <a:t>Passage à l'échelle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48920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App grand public · GIS Oriental · Portail autorités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06 / 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3F7A3A"/>
                </a:solidFill>
                <a:latin typeface="Menlo"/>
              </a:rPr>
              <a:t>APPLICATION 01 · PHASE 1 · OPÉRATIONNEL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Portail Client B2B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3F7A3A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Les 30-50 entreprises industrielles clientes dans l'Oriental.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Chaque client voit son contrat PPA, sa consommation en temps réel, ses factures, ses documents et ses tickets de support.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80 k$ · 3 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07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3F7A3A"/>
                </a:solidFill>
                <a:latin typeface="Menlo"/>
              </a:rPr>
              <a:t>APPLICATION 02 · PHASE 1 · OPÉRATIONNEL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Application Paiement des Factures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3F7A3A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Clients B2B industriels + locataires de la zone industrielle.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Intégration CMI, CIH, BMCE Direct, Attijari. Virement RIB, chèque scanné. Rappels SMS/email. Reçu PDF automatique.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60 k$ · 2 mois → -45 j cycle paiement, +600 k$/an (commission 0,5 %)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08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3F7A3A"/>
                </a:solidFill>
                <a:latin typeface="Menlo"/>
              </a:rPr>
              <a:t>APPLICATION 03 · PHASE 1 · OPÉRATIONNEL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Facturation Automatique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3F7A3A"/>
                </a:solidFill>
                <a:latin typeface="Georg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Équipe finance DiaCorp (5-10 personnes).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Lit les compteurs, applique le tarif PPA, génère le PDF conforme DGI (TVA, ICE), envoie par email et archive.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40 k$ · 2 mois → -250 k$/an en salaires économisés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09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3F7A3A"/>
                </a:solidFill>
                <a:latin typeface="Menlo"/>
              </a:rPr>
              <a:t>APPLICATION 04 · PHASE 1 · OPÉRATIONNEL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CRM Commercial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3F7A3A"/>
                </a:solidFill>
                <a:latin typeface="Georgia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Équipe commerciale (3-6 personnes, M. Mohammed BD).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Suivi des prospects Stellantis, OCP, Managem, Citic… de la première réunion à la signature PPA.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30 k$ · 1 mois → +20 % taux de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10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3F7A3A"/>
                </a:solidFill>
                <a:latin typeface="Menlo"/>
              </a:rPr>
              <a:t>APPLICATION 05 · PHASE 1 · OPÉRATIONNEL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Dashboard Production Temps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3F7A3A"/>
                </a:solidFill>
                <a:latin typeface="Georgia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Exploitation DIA1 + siège Oujda.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Production solaire en direct, températures, météo, comparaison vs prévision. Une vue d'ensemble en un coup d'œil.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50 k$ · 2 mois → +1 % disponibilité = +1,2 M$/an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11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APPLICATION 06 · PHASE 2 · REVENU ADD.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GMAO — Gestion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E8A948"/>
                </a:solidFill>
                <a:latin typeface="Georgia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Techniciens terrain (15-30 au régime 1 GW) + managers maintenance.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App mobile : tickets d'intervention, photos avant/après, historique par panneau, planning préventif.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E8A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70 k$ · 3 mois → +50 % productivité techniciens, revendable SaaS ≈ 500 k$/an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12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APPLICATION 07 · PHASE 2 · REVENU ADD.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Plateforme Certificats Verts (REC)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E8A948"/>
                </a:solidFill>
                <a:latin typeface="Georgia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Exportateurs marocains soumis à la taxe CBAM (Renault, OCP, Citic…).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Émission de certificats numériques signés, vérifiables Verra/Gold Standard. Option blockchain.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E8A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120 k$ · 4 mois → 30-50 M$/an (€15-25 / tCO₂)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13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APPLICATION 08 · PHASE 2 · REVENU ADD.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Marketplace Énergie Oriental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E8A948"/>
                </a:solidFill>
                <a:latin typeface="Georgia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Acheteurs industriels Oriental (Managem, textile Oujda, agro Berkane…).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Capacité dispo affichée en direct, prix spot, réservation en ligne, wheeling ONEE intégré.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E8A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200 k$ · 6 mois → +10-15 % de revenu vs contrats fixes uniquement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14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APPLICATION 09 · PHASE 2 · REVENU ADD.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Zone Industrielle 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E8A948"/>
                </a:solidFill>
                <a:latin typeface="Georgia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DiaCorp opérateur de la zone + 50 locataires autour de DIA1.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Lots, baux, consommation énergie / eau / déchets par locataire. Facturation mensuelle. Services communs.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E8A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100 k$ · 4 mois → 6-30 M$/an (loyers + services)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15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C9824A"/>
                </a:solidFill>
                <a:latin typeface="Menlo"/>
              </a:rPr>
              <a:t>APPLICATION 10 · PHASE 3 ·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C9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Application Mobile Grand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C9824A"/>
                </a:solidFill>
                <a:latin typeface="Georgia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Ménages marocains de l'Oriental (Oujda, Nador, Berkane) en premier lieu.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Installation gratuite des panneaux + abonnement 50-150 $/mois. Financement intégré BMCE. App production/économies.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C98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C9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C9824A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250 k$ · 6-8 mois → 8,4 M$/an (10 k foyers) → 84 M$/an (100 k foyers)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16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C9824A"/>
                </a:solidFill>
                <a:latin typeface="Menlo"/>
              </a:rPr>
              <a:t>APPLICATION 11 · PHASE 3 ·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C9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GIS Cartographie Oriental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C9824A"/>
                </a:solidFill>
                <a:latin typeface="Georgia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Équipe dev DiaCorp + CRI Oriental + DGCL régionale.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Carte interactive : irradiance, distance ligne HT ONEE, foncier, démographie. Aide décision DIA2/DIA3.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C98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C9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C9824A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80 k$ · 3 mois → évite 500 k$ études ratées, revendable DFI (BEI, BAD, BM)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17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C9824A"/>
                </a:solidFill>
                <a:latin typeface="Menlo"/>
              </a:rPr>
              <a:t>APPLICATION 12 · PHASE 3 ·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C9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F5F2EA"/>
                </a:solidFill>
                <a:latin typeface="Georgia"/>
              </a:rPr>
              <a:t>Portail Autorités &amp;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05840"/>
            <a:ext cx="3657600" cy="137160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NUMÉRO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spc="-40">
                <a:solidFill>
                  <a:srgbClr val="C9824A"/>
                </a:solidFill>
                <a:latin typeface="Georg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1635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Direction DiaCorp + conformité + ministères marocains.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6B675E"/>
                </a:solidFill>
                <a:latin typeface="Menlo"/>
              </a:rPr>
              <a:t>CE QUE ÇA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142232"/>
            <a:ext cx="8869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2EA"/>
                </a:solidFill>
                <a:latin typeface="Georgia"/>
              </a:rPr>
              <a:t>Rapports mensuels ONEE, DGI, AMDIE, CRI Oriental, Min. Énergie. Signature électronique + archivage légal 10 ans.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 w="12700">
            <a:solidFill>
              <a:srgbClr val="C98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60720"/>
            <a:ext cx="54864" cy="822960"/>
          </a:xfrm>
          <a:prstGeom prst="rect">
            <a:avLst/>
          </a:prstGeom>
          <a:solidFill>
            <a:srgbClr val="C9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C9824A"/>
                </a:solidFill>
                <a:latin typeface="Menlo"/>
              </a:rPr>
              <a:t>RETOUR DIACORP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2EA"/>
                </a:solidFill>
                <a:latin typeface="Georgia"/>
              </a:rPr>
              <a:t>45 k$ · 2 mois → évite jusqu'à 200 k$/an en pénalités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18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RÉCAPITULATIF · INVESTISSEMENT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F5F2EA"/>
                </a:solidFill>
                <a:latin typeface="Georgia"/>
              </a:rPr>
              <a:t>1,1 M$ de logiciel pour protéger 120 M$ de CAPEX.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60320"/>
            <a:ext cx="3566160" cy="265176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60320"/>
            <a:ext cx="54864" cy="265176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-15">
                <a:solidFill>
                  <a:srgbClr val="F5F2EA"/>
                </a:solidFill>
                <a:latin typeface="Georgia"/>
              </a:rPr>
              <a:t>Opérationnel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spc="-20">
                <a:solidFill>
                  <a:srgbClr val="3F7A3A"/>
                </a:solidFill>
                <a:latin typeface="Georgia"/>
              </a:rPr>
              <a:t>260 k$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39E94"/>
                </a:solidFill>
                <a:latin typeface="Menlo"/>
              </a:rPr>
              <a:t>Durée · 3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34839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39E94"/>
                </a:solidFill>
                <a:latin typeface="Helvetica Neue"/>
              </a:rPr>
              <a:t>5 apps · Portail, Paiement, Facturation, CRM,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4568" y="2560320"/>
            <a:ext cx="3566160" cy="265176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44568" y="2560320"/>
            <a:ext cx="54864" cy="265176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3063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-15">
                <a:solidFill>
                  <a:srgbClr val="F5F2EA"/>
                </a:solidFill>
                <a:latin typeface="Georgia"/>
              </a:rPr>
              <a:t>Revenu additionnel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361188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spc="-20">
                <a:solidFill>
                  <a:srgbClr val="E8A948"/>
                </a:solidFill>
                <a:latin typeface="Georgia"/>
              </a:rPr>
              <a:t>490 k$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39E94"/>
                </a:solidFill>
                <a:latin typeface="Menlo"/>
              </a:rPr>
              <a:t>Durée · 6 mois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434839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39E94"/>
                </a:solidFill>
                <a:latin typeface="Helvetica Neue"/>
              </a:rPr>
              <a:t>4 apps · GMAO, Certificats, Marketplace, Zone Indus.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1896" y="2560320"/>
            <a:ext cx="3566160" cy="2651760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11896" y="2560320"/>
            <a:ext cx="54864" cy="2651760"/>
          </a:xfrm>
          <a:prstGeom prst="rect">
            <a:avLst/>
          </a:prstGeom>
          <a:solidFill>
            <a:srgbClr val="C9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86216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C9824A"/>
                </a:solidFill>
                <a:latin typeface="Menlo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3063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-15">
                <a:solidFill>
                  <a:srgbClr val="F5F2EA"/>
                </a:solidFill>
                <a:latin typeface="Georgia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361188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spc="-20">
                <a:solidFill>
                  <a:srgbClr val="C9824A"/>
                </a:solidFill>
                <a:latin typeface="Georgia"/>
              </a:rPr>
              <a:t>375 k$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6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39E94"/>
                </a:solidFill>
                <a:latin typeface="Menlo"/>
              </a:rPr>
              <a:t>Durée · 8 mois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4434839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39E94"/>
                </a:solidFill>
                <a:latin typeface="Helvetica Neue"/>
              </a:rPr>
              <a:t>3 apps · App Grand Public, GIS, Portail Autorités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5577840"/>
            <a:ext cx="10607040" cy="0"/>
          </a:xfrm>
          <a:prstGeom prst="line">
            <a:avLst/>
          </a:prstGeom>
          <a:ln w="19050">
            <a:solidFill>
              <a:srgbClr val="E8A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spc="150">
                <a:solidFill>
                  <a:srgbClr val="E8A948"/>
                </a:solidFill>
                <a:latin typeface="Menlo"/>
              </a:rPr>
              <a:t>TOTAL · 1 125 k$ · 18 mois · &lt; 1 % du CAPEX projet 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807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39E94"/>
                </a:solidFill>
                <a:latin typeface="Georgia"/>
              </a:rPr>
              <a:t>Revenus additionnels potentiels à maturité : 30 à 50 M$ par 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19 / 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CALENDRIER D'EXÉCUTION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0" spc="-25">
                <a:solidFill>
                  <a:srgbClr val="F5F2EA"/>
                </a:solidFill>
                <a:latin typeface="Georgia"/>
              </a:rPr>
              <a:t>Trois phases, dix-huit mois.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3200400"/>
            <a:ext cx="10607040" cy="0"/>
          </a:xfrm>
          <a:prstGeom prst="line">
            <a:avLst/>
          </a:prstGeom>
          <a:ln w="25400">
            <a:solidFill>
              <a:srgbClr val="2A2D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77240" y="3162300"/>
            <a:ext cx="3288182" cy="7620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338818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338818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A39E94"/>
                </a:solidFill>
                <a:latin typeface="Menlo"/>
              </a:rPr>
              <a:t>Q3 2026 — Q1 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5422" y="3162300"/>
            <a:ext cx="3606393" cy="7620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5422" y="3429000"/>
            <a:ext cx="370639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E8A948"/>
                </a:solidFill>
                <a:latin typeface="Menlo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5422" y="3703320"/>
            <a:ext cx="370639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A39E94"/>
                </a:solidFill>
                <a:latin typeface="Menlo"/>
              </a:rPr>
              <a:t>Q1 2027 — Q3 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71816" y="3162300"/>
            <a:ext cx="3712463" cy="76200"/>
          </a:xfrm>
          <a:prstGeom prst="rect">
            <a:avLst/>
          </a:prstGeom>
          <a:solidFill>
            <a:srgbClr val="C9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71816" y="3429000"/>
            <a:ext cx="38124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C9824A"/>
                </a:solidFill>
                <a:latin typeface="Menlo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6" y="3703320"/>
            <a:ext cx="38124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A39E94"/>
                </a:solidFill>
                <a:latin typeface="Menlo"/>
              </a:rPr>
              <a:t>Q3 2027 — Q1 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548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F2EA"/>
                </a:solidFill>
                <a:latin typeface="Georgia"/>
              </a:rPr>
              <a:t>Jalons clés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E8A948"/>
                </a:solidFill>
                <a:latin typeface="Menlo"/>
              </a:rPr>
              <a:t>T0 · Sept.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20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Helvetica Neue"/>
              </a:rPr>
              <a:t>Démarrage Phase 1 (Portail + Paiement + Facturation)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E8A948"/>
                </a:solidFill>
                <a:latin typeface="Menlo"/>
              </a:rPr>
              <a:t>T0 + 4 mois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394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Helvetica Neue"/>
              </a:rPr>
              <a:t>DIA1 facturé par le nouveau système — migration Excel vers prod.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E8A948"/>
                </a:solidFill>
                <a:latin typeface="Menlo"/>
              </a:rPr>
              <a:t>T0 + 9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669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Helvetica Neue"/>
              </a:rPr>
              <a:t>Certificats verts émis à premiers clients CBAM.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436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E8A948"/>
                </a:solidFill>
                <a:latin typeface="Menlo"/>
              </a:rPr>
              <a:t>T0 + 12 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943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Helvetica Neue"/>
              </a:rPr>
              <a:t>Marketplace spot ouvert — premier volume non contracté vendu.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17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E8A948"/>
                </a:solidFill>
                <a:latin typeface="Menlo"/>
              </a:rPr>
              <a:t>T0 + 18 mois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217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39E94"/>
                </a:solidFill>
                <a:latin typeface="Helvetica Neue"/>
              </a:rPr>
              <a:t>App grand public lancée dans l'Oriental — 500 premiers foyers.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20 / 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ÉQUIPE · KERMASYS / DIACORP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2237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spc="-25">
                <a:solidFill>
                  <a:srgbClr val="F5F2EA"/>
                </a:solidFill>
                <a:latin typeface="Georgia"/>
              </a:rPr>
              <a:t>25 ans dans l'énergie marocaine.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10607040" cy="658368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spc="-15">
                <a:solidFill>
                  <a:srgbClr val="F5F2EA"/>
                </a:solidFill>
                <a:latin typeface="Georgia"/>
              </a:rPr>
              <a:t>Wahb Kermadi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EMI · ENAC · ENSEEIHT — 25 ans EPC gaz &amp; solaire (Maroc, Libye, Afrique).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46120"/>
            <a:ext cx="10607040" cy="658368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spc="-15">
                <a:solidFill>
                  <a:srgbClr val="F5F2EA"/>
                </a:solidFill>
                <a:latin typeface="Georgia"/>
              </a:rPr>
              <a:t>Abdellatif Soussi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TCO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2900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23 ans d'I&amp;C et EPC, confirmé en Gaz &amp; CSP, Espagne/Maroc/Afrique.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023360"/>
            <a:ext cx="10607040" cy="658368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spc="-15">
                <a:solidFill>
                  <a:srgbClr val="F5F2EA"/>
                </a:solidFill>
                <a:latin typeface="Georgia"/>
              </a:rPr>
              <a:t>M. Mohammed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BD &amp;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38 ans de développement projets en Afrique du Nord et de l'Ouest.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800600"/>
            <a:ext cx="10607040" cy="658368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spc="-15">
                <a:solidFill>
                  <a:srgbClr val="F5F2EA"/>
                </a:solidFill>
                <a:latin typeface="Georgia"/>
              </a:rPr>
              <a:t>H. Imchichi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CFO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8348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30 ans de financement d'entreprise : BMCE, AttijariWafa, Delattre-Levivier, ONA, SATEC.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577840"/>
            <a:ext cx="10607040" cy="658368"/>
          </a:xfrm>
          <a:prstGeom prst="rect">
            <a:avLst/>
          </a:prstGeom>
          <a:solidFill>
            <a:srgbClr val="14171B"/>
          </a:solidFill>
          <a:ln w="9525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spc="-15">
                <a:solidFill>
                  <a:srgbClr val="F5F2EA"/>
                </a:solidFill>
                <a:latin typeface="Georgia"/>
              </a:rPr>
              <a:t>H. Berri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43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E8A948"/>
                </a:solidFill>
                <a:latin typeface="Menlo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7607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9E94"/>
                </a:solidFill>
                <a:latin typeface="Helvetica Neue"/>
              </a:rPr>
              <a:t>PhD gestion administrative — 20 ans en projets stratégiques.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21 / 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16459200" cy="9144000"/>
          </a:xfrm>
          <a:prstGeom prst="ellipse">
            <a:avLst/>
          </a:prstGeom>
          <a:solidFill>
            <a:srgbClr val="2A1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80">
                <a:solidFill>
                  <a:srgbClr val="E8A948"/>
                </a:solidFill>
                <a:latin typeface="Menlo"/>
              </a:rPr>
              <a:t>L'ASK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05256"/>
            <a:ext cx="164592" cy="635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 spc="-35">
                <a:solidFill>
                  <a:srgbClr val="F5F2EA"/>
                </a:solidFill>
                <a:latin typeface="Georgia"/>
              </a:rPr>
              <a:t>1,1 M$ sur 18 mois.</a:t>
            </a:r>
          </a:p>
          <a:p>
            <a:pPr algn="l"/>
            <a:r>
              <a:rPr sz="5400" b="0" spc="-35">
                <a:solidFill>
                  <a:srgbClr val="F5F2EA"/>
                </a:solidFill>
                <a:latin typeface="Georgia"/>
              </a:rPr>
              <a:t>Livrable, défendable, mesurable.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840480"/>
            <a:ext cx="54864" cy="54864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spc="-15">
                <a:solidFill>
                  <a:srgbClr val="F5F2EA"/>
                </a:solidFill>
                <a:latin typeface="Georgia"/>
              </a:rPr>
              <a:t>Validation du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9502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39E94"/>
                </a:solidFill>
                <a:latin typeface="Helvetica Neue"/>
              </a:rPr>
              <a:t>sur le budget logiciel et la roadmap 3 phases.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480560"/>
            <a:ext cx="54864" cy="54864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spc="-15">
                <a:solidFill>
                  <a:srgbClr val="F5F2EA"/>
                </a:solidFill>
                <a:latin typeface="Georgia"/>
              </a:rPr>
              <a:t>Recrutement d'un 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59028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39E94"/>
                </a:solidFill>
                <a:latin typeface="Helvetica Neue"/>
              </a:rPr>
              <a:t>avec 5-8 ingénieurs dans l'Oriental (Oujda) dès le T0.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120640"/>
            <a:ext cx="54864" cy="54864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spc="-15">
                <a:solidFill>
                  <a:srgbClr val="F5F2EA"/>
                </a:solidFill>
                <a:latin typeface="Georgia"/>
              </a:rPr>
              <a:t>Partenariats bancaires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230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39E94"/>
                </a:solidFill>
                <a:latin typeface="Helvetica Neue"/>
              </a:rPr>
              <a:t>CIH et BMCE pour intégration paiement — facile, déjà en cours.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760720"/>
            <a:ext cx="54864" cy="548640"/>
          </a:xfrm>
          <a:prstGeom prst="rect">
            <a:avLst/>
          </a:prstGeom>
          <a:solidFill>
            <a:srgbClr val="E8A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806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spc="-15">
                <a:solidFill>
                  <a:srgbClr val="F5F2EA"/>
                </a:solidFill>
                <a:latin typeface="Georgia"/>
              </a:rPr>
              <a:t>Démarrage 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8704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39E94"/>
                </a:solidFill>
                <a:latin typeface="Helvetica Neue"/>
              </a:rPr>
              <a:t>dès la mise en service DIA1 prévue Q3 2027.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6B675E"/>
                </a:solidFill>
                <a:latin typeface="Menlo"/>
              </a:rPr>
              <a:t>22 / 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295" y="6446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6B675E"/>
                </a:solidFill>
                <a:latin typeface="Menlo"/>
              </a:rPr>
              <a:t>DIACORP · ENERGY · ORIENTAL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0" b="0" spc="-60">
                <a:solidFill>
                  <a:srgbClr val="F5F2EA"/>
                </a:solidFill>
                <a:latin typeface="Georgia"/>
              </a:rPr>
              <a:t>Merci.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3931920"/>
            <a:ext cx="2743200" cy="0"/>
          </a:xfrm>
          <a:prstGeom prst="line">
            <a:avLst/>
          </a:prstGeom>
          <a:ln w="19050">
            <a:solidFill>
              <a:srgbClr val="E8A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4114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spc="-10">
                <a:solidFill>
                  <a:srgbClr val="A39E94"/>
                </a:solidFill>
                <a:latin typeface="Georgia"/>
              </a:rPr>
              <a:t>DiaCorp Energy — Thèse Logicielle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spc="100">
                <a:solidFill>
                  <a:srgbClr val="6B675E"/>
                </a:solidFill>
                <a:latin typeface="Menlo"/>
              </a:rPr>
              <a:t>wahb@diacorp.energy · +212 5xx · Casablanca / Ain Beni Mathar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6B675E"/>
                </a:solidFill>
                <a:latin typeface="Menlo"/>
              </a:rPr>
              <a:t>dia-pitch.vercel.app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6895" y="60350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spc="200">
                <a:solidFill>
                  <a:srgbClr val="6B675E"/>
                </a:solidFill>
                <a:latin typeface="Menlo"/>
              </a:rPr>
              <a:t>DIACORP · ENERGY · ORIENTAL / MAROC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